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  <p:sldId id="266" r:id="rId14"/>
    <p:sldId id="268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28CA-1B96-4AFA-95F3-B0B98438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2031325"/>
          </a:xfrm>
        </p:spPr>
        <p:txBody>
          <a:bodyPr/>
          <a:lstStyle/>
          <a:p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1B982-1D0F-0450-90B8-D7D144D3D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"/>
            <a:ext cx="11734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7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1320749"/>
            <a:ext cx="6553199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rPr dirty="0"/>
              <a:t>Disaster Preparedness and</a:t>
            </a:r>
            <a:endParaRPr b="1" spc="-10" dirty="0">
              <a:latin typeface="Carlito"/>
              <a:cs typeface="Carlito"/>
            </a:endParaRPr>
          </a:p>
          <a:p>
            <a:pPr>
              <a:defRPr sz="2800" b="1">
                <a:solidFill>
                  <a:srgbClr val="122A42"/>
                </a:solidFill>
                <a:latin typeface="Aptos"/>
              </a:defRPr>
            </a:pPr>
            <a:r>
              <a:rPr lang="en-US" dirty="0"/>
              <a:t>              </a:t>
            </a:r>
            <a:r>
              <a:rPr dirty="0"/>
              <a:t>Response Education System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2994736"/>
            <a:ext cx="10668000" cy="13215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defRPr sz="1700" b="1">
                <a:solidFill>
                  <a:srgbClr val="008F8B"/>
                </a:solidFill>
                <a:latin typeface="Aptos"/>
              </a:defRPr>
            </a:pPr>
            <a:r>
              <a:rPr dirty="0"/>
              <a:t>DESIGN THINKING FOR INNOVATION &amp; ENTREPRENEURSHIP (DTIE)</a:t>
            </a:r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endParaRPr dirty="0"/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r>
              <a:rPr lang="en-US" dirty="0"/>
              <a:t>Greoup-6</a:t>
            </a:r>
            <a:r>
              <a:rPr dirty="0"/>
              <a:t> |  Section: </a:t>
            </a:r>
            <a:r>
              <a:rPr lang="en-US" dirty="0"/>
              <a:t>13</a:t>
            </a:r>
            <a:endParaRPr dirty="0"/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endParaRPr dirty="0"/>
          </a:p>
          <a:p>
            <a:pPr>
              <a:defRPr sz="1700" b="1">
                <a:solidFill>
                  <a:srgbClr val="008F8B"/>
                </a:solidFill>
                <a:latin typeface="Aptos"/>
              </a:defRPr>
            </a:pPr>
            <a:r>
              <a:rPr dirty="0" err="1"/>
              <a:t>DisasterReady</a:t>
            </a:r>
            <a:r>
              <a:rPr dirty="0"/>
              <a:t> — Be Prepared. Stay Safe. Save Lives.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983480"/>
            <a:ext cx="10652760" cy="713232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5093208"/>
            <a:ext cx="1019556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LEARN  •  PREPARE  •  RESPOND  •  RECOVER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Project Team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0992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283746"/>
                </a:solidFill>
                <a:latin typeface="Aptos"/>
              </a:defRPr>
            </a:pPr>
            <a:r>
              <a:t>Disaster preparedness learning hub for schools, colleges and communities.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2220" y="128861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rPr dirty="0"/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7272" y="1652018"/>
            <a:ext cx="4882896" cy="13655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1. </a:t>
            </a:r>
            <a:r>
              <a:rPr lang="en-US" dirty="0"/>
              <a:t>I. Hema Sai Vaishnav-2620030303</a:t>
            </a:r>
            <a:endParaRPr dirty="0"/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2. </a:t>
            </a:r>
            <a:r>
              <a:rPr lang="en-US" dirty="0"/>
              <a:t>N.Pranav-2620090017</a:t>
            </a:r>
            <a:endParaRPr dirty="0"/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3. </a:t>
            </a:r>
            <a:r>
              <a:rPr lang="en-US" dirty="0"/>
              <a:t>V.Bhavya-2620030177</a:t>
            </a:r>
            <a:endParaRPr dirty="0"/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dirty="0"/>
              <a:t>4. </a:t>
            </a:r>
            <a:r>
              <a:rPr lang="en-US" dirty="0"/>
              <a:t>K. Madhavi-2620080102</a:t>
            </a:r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lang="en-US" dirty="0"/>
              <a:t>5. </a:t>
            </a:r>
            <a:r>
              <a:rPr lang="en-US" dirty="0" err="1"/>
              <a:t>M.Meghana</a:t>
            </a:r>
            <a:r>
              <a:rPr lang="en-US" dirty="0"/>
              <a:t> Sruthi-2620030293</a:t>
            </a:r>
          </a:p>
          <a:p>
            <a:pPr>
              <a:spcAft>
                <a:spcPts val="200"/>
              </a:spcAft>
              <a:defRPr sz="1300" b="0">
                <a:solidFill>
                  <a:srgbClr val="283746"/>
                </a:solidFill>
                <a:latin typeface="Aptos"/>
              </a:defRPr>
            </a:pPr>
            <a:r>
              <a:rPr lang="en-US" dirty="0"/>
              <a:t>6. Abhinaya-2620030366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106527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109728" cy="132588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355848"/>
            <a:ext cx="1032357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DESIGN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776472"/>
            <a:ext cx="10323576" cy="7040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Understand the problem → identify learner needs → design easy lessons → test with users → improve using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5D6D7E"/>
                </a:solidFill>
                <a:latin typeface="Aptos"/>
              </a:defRPr>
            </a:pPr>
            <a:r>
              <a:t>Institution: KLH Bachupally  |  DTIE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Vision and 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169164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1691640"/>
            <a:ext cx="109728" cy="196596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180136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221992"/>
            <a:ext cx="4882896" cy="13441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283746"/>
                </a:solidFill>
                <a:latin typeface="Aptos"/>
              </a:defRPr>
            </a:pPr>
            <a:r>
              <a:t>Build a society where every student knows how to stay safe before, during and after a disaster.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21208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691640"/>
            <a:ext cx="109728" cy="1965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180136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221992"/>
            <a:ext cx="4882896" cy="134416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283746"/>
                </a:solidFill>
                <a:latin typeface="Aptos"/>
              </a:defRPr>
            </a:pPr>
            <a:r>
              <a:t>Make disaster education simple, engaging and accessible through short lessons, safety checklists and practice activities.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160520"/>
            <a:ext cx="9784080" cy="77724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4315968"/>
            <a:ext cx="93268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22A42"/>
                </a:solidFill>
                <a:latin typeface="Aptos"/>
              </a:defRPr>
            </a:pPr>
            <a:r>
              <a:t>Core promise: knowledge that can be used in real life.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Problem 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2011680"/>
          </a:xfrm>
          <a:prstGeom prst="rect">
            <a:avLst/>
          </a:prstGeom>
          <a:solidFill>
            <a:srgbClr val="CD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CD5348"/>
                </a:solidFill>
                <a:latin typeface="Aptos"/>
              </a:defRPr>
            </a:pPr>
            <a:r>
              <a:t>LOW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3099816" cy="1389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Many learners may not know the correct first steps during a flood, fire, earthquake or severe storm.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109728" cy="20116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LIMITED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1"/>
            <a:ext cx="3099816" cy="1389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Safety information is often learned as theory, with fewer interactive practice opportunities.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109728" cy="201168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SCATTERED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1"/>
            <a:ext cx="3099816" cy="1389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Guidance can be spread across different sources and may be difficult to remember quickly.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069080"/>
            <a:ext cx="10149840" cy="86868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224528"/>
            <a:ext cx="9692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Design challenge: How might we help students learn and practise disaster safety in one easy place?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Research, Facts and Market 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WHAT GOOD GUIDANCE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Clear emergency plans, training, drills and regular review help schools prepare.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LEARNING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Learners benefit from age-appropriate content, scenarios, teamwork and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OUR RESEARCH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Review existing preparedness resources and ask students/teachers what they find confusing.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15468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DESIGN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Combine simple lessons, checklists, quizzes and local emergency contacts in one learning hub.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424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D6D7E"/>
                </a:solidFill>
                <a:latin typeface="Aptos"/>
              </a:defRPr>
            </a:pPr>
            <a:r>
              <a:t>Reference: U.S. Department of Education, “Emergency Planning”; Ready.gov preparedness education.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Target Users / Customers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205740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PRIMARY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3099816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School students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College students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Teachers and mentors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109728" cy="20574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SUPPORT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1"/>
            <a:ext cx="3099816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Parents and guardians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School safety teams</a:t>
            </a:r>
          </a:p>
          <a:p>
            <a:pPr>
              <a:spcAft>
                <a:spcPts val="200"/>
              </a:spcAft>
              <a:defRPr sz="1900" b="0">
                <a:solidFill>
                  <a:srgbClr val="283746"/>
                </a:solidFill>
                <a:latin typeface="Aptos"/>
              </a:defRPr>
            </a:pPr>
            <a:r>
              <a:t>Community volunteers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109728" cy="205740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USER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1"/>
            <a:ext cx="3099816" cy="14356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Short explanations</a:t>
            </a:r>
          </a:p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Mobile-friendly access</a:t>
            </a:r>
          </a:p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Simple language</a:t>
            </a:r>
          </a:p>
          <a:p>
            <a:pPr>
              <a:spcAft>
                <a:spcPts val="200"/>
              </a:spcAft>
              <a:defRPr sz="1800" b="0">
                <a:solidFill>
                  <a:srgbClr val="283746"/>
                </a:solidFill>
                <a:latin typeface="Aptos"/>
              </a:defRPr>
            </a:pPr>
            <a:r>
              <a:t>Practice and reminders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160520"/>
            <a:ext cx="9966960" cy="68580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297680"/>
            <a:ext cx="9601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122A42"/>
                </a:solidFill>
                <a:latin typeface="Aptos"/>
              </a:defRPr>
            </a:pPr>
            <a:r>
              <a:t>Design for different ages, abilities, languages and internet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Competitors / 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874519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GOVERNMENT GUIDES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3099816" cy="12527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Trusted preparedness information and safety advice.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109728" cy="1874519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1848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SCHOOL DRILLS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99816" cy="12527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Hands-on practice and familiar school procedures.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109728" cy="1874519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1848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ONLINE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099816" cy="12527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Videos, articles and quizzes that teach safety topics.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10332720" cy="91440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005072"/>
            <a:ext cx="98755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Our difference: a student-friendly learning path that connects lessons, checklists and scenario-based quizzes.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D6D7E"/>
                </a:solidFill>
                <a:latin typeface="Aptos"/>
              </a:defRPr>
            </a:pPr>
            <a:r>
              <a:t>Benchmark examples: Ready.gov and school emergency-planning guidance.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Risks and Gaps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417320"/>
          </a:xfrm>
          <a:prstGeom prst="rect">
            <a:avLst/>
          </a:prstGeom>
          <a:solidFill>
            <a:srgbClr val="CD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CD5348"/>
                </a:solidFill>
                <a:latin typeface="Aptos"/>
              </a:defRPr>
            </a:pPr>
            <a:r>
              <a:t>RISK: OUTDATED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Use trusted sources and review content regularly.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RISK: DIGITAL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Keep pages lightweight and provide printable checklists.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RISK: ONE-SIZE-FITS-ALL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Use simple language, accessible design and multiple formats.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15468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GAP TO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283746"/>
                </a:solidFill>
                <a:latin typeface="Aptos"/>
              </a:defRPr>
            </a:pPr>
            <a:r>
              <a:t>Test the platform with students and teachers; do not replace official instructions or emergency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Concept / Prototype / 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9728" cy="182880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2704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1.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3099816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Short modules about floods, fires, earthquakes, storms and first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109728" cy="18288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2704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2. PRACTISE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99816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Scenario questions, quick quizzes and classroom activities.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109728" cy="182880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527048"/>
            <a:ext cx="309981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3. GET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47672"/>
            <a:ext cx="3099816" cy="12070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Emergency checklist, family contact plan and school evacuation reminders.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57600"/>
            <a:ext cx="10332720" cy="105156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3822191"/>
            <a:ext cx="98755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Website connection: DisasterReady — “Be Prepared. Stay Safe. Save Lives.” The proposed learning area organises preparedness lessons and activities for easy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Images / Storyboard / 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1417320"/>
            <a:ext cx="731520" cy="731520"/>
          </a:xfrm>
          <a:prstGeom prst="ellipse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Learner opens DisasterReady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3007" y="1417320"/>
            <a:ext cx="731520" cy="73152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7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799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799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Selects a disaster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24727" y="1417320"/>
            <a:ext cx="731520" cy="731520"/>
          </a:xfrm>
          <a:prstGeom prst="ellipse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24727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Reads a short lesson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56448" y="1417320"/>
            <a:ext cx="731520" cy="731520"/>
          </a:xfrm>
          <a:prstGeom prst="ellipse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Completes quiz/checklist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25146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008F8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828800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88168" y="1417320"/>
            <a:ext cx="731520" cy="73152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88168" y="157276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331720"/>
            <a:ext cx="17830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788920"/>
            <a:ext cx="1783080" cy="822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Reviews safe next steps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343400"/>
            <a:ext cx="9966960" cy="64008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25880" y="4462272"/>
            <a:ext cx="95097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Flow: Home → Learn → Quiz → Checklist → Feedback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Lean Canvas 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5270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Low awareness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Little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41732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5270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9476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Lessons + quizzes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Safety checklists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23774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41732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1527048"/>
            <a:ext cx="20482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1947672"/>
            <a:ext cx="20482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Simple, useful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student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45168" y="1527048"/>
            <a:ext cx="209397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947672"/>
            <a:ext cx="209397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Students, teachers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families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24612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3558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7764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Website, classes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QR codes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324612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20440" y="324612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8" y="3355848"/>
            <a:ext cx="22768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3776472"/>
            <a:ext cx="22768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Content, hosting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246120"/>
            <a:ext cx="23774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46520" y="324612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47688" y="3355848"/>
            <a:ext cx="204825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MEASURES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776472"/>
            <a:ext cx="204825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Quiz scores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feedback, visits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246120"/>
            <a:ext cx="24231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44000" y="324612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45168" y="3355848"/>
            <a:ext cx="209397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PARTNERS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776472"/>
            <a:ext cx="209397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Schools, safety teams</a:t>
            </a:r>
          </a:p>
          <a:p>
            <a:pPr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trusted agencies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Capital / Financial Plan</a:t>
            </a:r>
            <a:endParaRPr spc="-6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LOW-COST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Use existing website tools, free learning resources and student-created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109728" cy="14173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1848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2994A"/>
                </a:solidFill>
                <a:latin typeface="Aptos"/>
              </a:defRPr>
            </a:pPr>
            <a:r>
              <a:t>MAIN COST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Website hosting, content design, accessibility, testing and maintenance.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109728" cy="1417320"/>
          </a:xfrm>
          <a:prstGeom prst="rect">
            <a:avLst/>
          </a:prstGeom>
          <a:solidFill>
            <a:srgbClr val="45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457EBE"/>
                </a:solidFill>
                <a:latin typeface="Aptos"/>
              </a:defRPr>
            </a:pPr>
            <a:r>
              <a:t>POSSIBLE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College project support, school partnerships and community awareness initiatives.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154680"/>
            <a:ext cx="109728" cy="1417320"/>
          </a:xfrm>
          <a:prstGeom prst="rect">
            <a:avLst/>
          </a:prstGeom>
          <a:solidFill>
            <a:srgbClr val="008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264408"/>
            <a:ext cx="4882896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8F8B"/>
                </a:solidFill>
                <a:latin typeface="Aptos"/>
              </a:defRPr>
            </a:pPr>
            <a:r>
              <a:t>FINANCIAL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85032"/>
            <a:ext cx="4882896" cy="7955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283746"/>
                </a:solidFill>
                <a:latin typeface="Aptos"/>
              </a:defRPr>
            </a:pPr>
            <a:r>
              <a:t>Start with a small prototype; estimate actual costs after choosing tools and hosting.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5D6D7E"/>
                </a:solidFill>
                <a:latin typeface="Aptos"/>
              </a:defRPr>
            </a:pPr>
            <a:r>
              <a:t>No final budget is claimed yet; costs will be confirmed during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800" b="1">
                <a:solidFill>
                  <a:srgbClr val="122A42"/>
                </a:solidFill>
                <a:latin typeface="Aptos"/>
              </a:defRPr>
            </a:pPr>
            <a:r>
              <a:t>Roadmap / 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Discuss student and teacher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Plan lessons and website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608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Add content, quizzes and checklists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07807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Collect feedback and fix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2994A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1828800"/>
            <a:ext cx="20574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9528" y="20116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08F8B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423160"/>
            <a:ext cx="1828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122A42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880360"/>
            <a:ext cx="17830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283746"/>
                </a:solidFill>
                <a:latin typeface="Aptos"/>
              </a:defRPr>
            </a:pPr>
            <a:r>
              <a:t>Demonstrate prototype and next steps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251960"/>
            <a:ext cx="10149840" cy="685800"/>
          </a:xfrm>
          <a:prstGeom prst="roundRect">
            <a:avLst/>
          </a:prstGeom>
          <a:solidFill>
            <a:srgbClr val="DE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34440" y="4389120"/>
            <a:ext cx="96926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122A42"/>
                </a:solidFill>
                <a:latin typeface="Aptos"/>
              </a:defRPr>
            </a:pPr>
            <a:r>
              <a:t>Success check: learners can identify safe actions and find trusted guidance quickly.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259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 sz="2500" b="1">
                <a:solidFill>
                  <a:srgbClr val="122A42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65124" y="3016414"/>
            <a:ext cx="10360660" cy="3231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029" algn="l"/>
              </a:tabLst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89507" y="1600200"/>
            <a:ext cx="10332720" cy="192024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9692640" cy="4985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 dirty="0"/>
              <a:t>DISASTER</a:t>
            </a:r>
            <a:r>
              <a:rPr lang="en-US" dirty="0"/>
              <a:t> </a:t>
            </a:r>
            <a:r>
              <a:rPr dirty="0"/>
              <a:t>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834640"/>
            <a:ext cx="9692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76E2D7"/>
                </a:solidFill>
                <a:latin typeface="Aptos"/>
              </a:defRPr>
            </a:pPr>
            <a:r>
              <a:t>Be Prepared. Stay Safe. Save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943</Words>
  <Application>Microsoft Office PowerPoint</Application>
  <PresentationFormat>Widescreen</PresentationFormat>
  <Paragraphs>179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Carlito</vt:lpstr>
      <vt:lpstr>Arial</vt:lpstr>
      <vt:lpstr>Trebuchet MS</vt:lpstr>
      <vt:lpstr>Office Theme</vt:lpstr>
      <vt:lpstr>       </vt:lpstr>
      <vt:lpstr>Disaster Preparedness and               Response Education System   </vt:lpstr>
      <vt:lpstr>Project Team</vt:lpstr>
      <vt:lpstr>Vision and Mission</vt:lpstr>
      <vt:lpstr>Problem Statement</vt:lpstr>
      <vt:lpstr>Research, Facts and Market Study</vt:lpstr>
      <vt:lpstr>Target Users / Customers</vt:lpstr>
      <vt:lpstr>Competitors / Benchmarks</vt:lpstr>
      <vt:lpstr>Risks and Gaps</vt:lpstr>
      <vt:lpstr>Concept / Prototype / Solution</vt:lpstr>
      <vt:lpstr>Images / Storyboard / Architecture</vt:lpstr>
      <vt:lpstr>Lean Canvas Model</vt:lpstr>
      <vt:lpstr>Capital / Financial Plan</vt:lpstr>
      <vt:lpstr>Roadmap / Timeline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Preparedness and Response Education System</dc:title>
  <dc:subject>DTIE Project — DisasterReady learning platform</dc:subject>
  <dc:creator>KLH Bachupally DTIE Project Team</dc:creator>
  <cp:lastModifiedBy>illahemasaivaishnav9@outlook.com</cp:lastModifiedBy>
  <cp:revision>9</cp:revision>
  <dcterms:created xsi:type="dcterms:W3CDTF">2024-11-15T04:43:19Z</dcterms:created>
  <dcterms:modified xsi:type="dcterms:W3CDTF">2026-10-16T05:53:07Z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